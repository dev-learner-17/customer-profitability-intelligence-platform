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4" d="100"/>
          <a:sy n="114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39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Intelligence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· Product · Profitability Performance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flipV="1">
            <a:off x="457200" y="3044953"/>
            <a:ext cx="5008228" cy="45719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46120"/>
            <a:ext cx="1828800" cy="713232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$34.3M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3246120"/>
            <a:ext cx="1828800" cy="713232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15.54%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3246120"/>
            <a:ext cx="1828800" cy="713232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175,021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80560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Records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3246120"/>
            <a:ext cx="1828800" cy="713232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19,761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APL Analytics Division  |  May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384048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Financial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2801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Profit, Margin — the numbers that matter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384048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645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182880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analysis, segmentation, Bleeder detection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176272"/>
            <a:ext cx="384048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1945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Category Diagnostics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3774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SKU-level margins, loss leaders, category performance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724912"/>
            <a:ext cx="384048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743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Impact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292608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quantification, threshold modeling, policy simulation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73552"/>
            <a:ext cx="384048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291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Regional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4747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profit mapping, market divergence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822192"/>
            <a:ext cx="384048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&amp; Technology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" y="40233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tech stack, methodology overview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370832"/>
            <a:ext cx="384048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4389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" y="457200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prioritized actions for immediate margin recovery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Financial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performance across 175,021 validated transactions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201168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61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$34.3M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17647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valid orders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10515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51560"/>
            <a:ext cx="20116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161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$5.3M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2316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17647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all costs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51560"/>
            <a:ext cx="201168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161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15.54%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17647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Portfolio-wide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1051560"/>
            <a:ext cx="2011680" cy="100584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05156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161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1228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Leak Ratio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7647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~$1.14M eroded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286000"/>
            <a:ext cx="1353312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C8D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19,761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28600" y="26151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Customers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2286000"/>
            <a:ext cx="1353312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C8DE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91640" y="26151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SKUs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54680" y="2286000"/>
            <a:ext cx="1353312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C8DE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154680" y="26151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2286000"/>
            <a:ext cx="1353312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C8DE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617720" y="26151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0760" y="2286000"/>
            <a:ext cx="1353312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C8DE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080760" y="26151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Nodes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543800" y="2286000"/>
            <a:ext cx="1353312" cy="640080"/>
          </a:xfrm>
          <a:prstGeom prst="rect">
            <a:avLst/>
          </a:prstGeom>
          <a:solidFill>
            <a:srgbClr val="EAF4FB"/>
          </a:solidFill>
          <a:ln w="12700">
            <a:solidFill>
              <a:srgbClr val="C8DE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4380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11,506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543800" y="261518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Coordinates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3063240"/>
            <a:ext cx="868680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3063240"/>
            <a:ext cx="64008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3090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" y="32735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earns 84¢ in costs for every $1 of revenue. The 3.33% discount leak alone represents ~$1.14M of fully recoverable margin — equivalent to a 21% uplift on current net profit.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44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Intelligence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actually making us money — and who isn't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365760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Analysis — Customer Profit Concentration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80/20 Rule confirmed: 34.89% of customers drive 80% of profits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4864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051560"/>
            <a:ext cx="2926080" cy="96012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1051560"/>
            <a:ext cx="64008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1078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FINDING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44768" y="12618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34.89%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44768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→ 80% of profit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2148840"/>
            <a:ext cx="2926080" cy="9601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214884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176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BLEEDER RISK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44768" y="2359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144768" y="2724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high-volume, negative-margin customers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3246120"/>
            <a:ext cx="29260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Implication: Focus commercial excellence resources on the top-35% VIP tier to protect 80% of the profit pool with minimal overhead.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19,761 customers classified into 4 value tiers by Sales vs. Profit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48640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05156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1051560"/>
            <a:ext cx="64008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11064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(~35%)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4768" y="13075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Sales + High Profit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28432" y="1143000"/>
            <a:ext cx="82296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843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989320" y="1801368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1801368"/>
            <a:ext cx="64008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1856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(~50%)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Sales + Profit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28432" y="1892808"/>
            <a:ext cx="82296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28432" y="1892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989320" y="2551176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89320" y="2551176"/>
            <a:ext cx="64008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2606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(~15%)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44768" y="2807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contribution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28432" y="2642616"/>
            <a:ext cx="82296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28432" y="2642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989320" y="3300984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89320" y="3300984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44768" y="3355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Bleeders (243)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44768" y="3557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Sales + Neg. Profit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028432" y="3392424"/>
            <a:ext cx="8229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28432" y="3392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/ EXIT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44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Impact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margin goes to die — and how to stop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365760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Rate vs. Order Profit — Threshold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above 25% discount cap are flagged as Policy Violations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66928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80760" y="105156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1106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172200" y="1417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Leak Ratio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180136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1856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~$1.14M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72200" y="2167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Margin Eroded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0760" y="2551176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2606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72200" y="2916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Hard Cap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0760" y="330098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72200" y="3355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−0.066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72200" y="36667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Discount-Profit Correlation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Discount Simulator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pricing scenario modelling in the Streamlit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4A4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2743200" cy="5486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$5.3M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" y="27249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leakage continues unchecked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051560"/>
            <a:ext cx="2743200" cy="2926080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51560"/>
            <a:ext cx="274320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Policy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Hard Cap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72968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72968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$6.44M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282696" y="27249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+$1.14M from cap on violating orders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71616" y="1051560"/>
            <a:ext cx="2743200" cy="292608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1051560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71616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Hard Cap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71616" y="1965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71616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~$7.0M+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81344" y="27249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recovery, customer impact risk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1148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Streamlit What-If Simulator allows executives to drag a discount cap slider and see real-time margin recovery estimates across the full dataset.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Regional Profit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rank ≠ Profit rank — margin divergence across 5 global markets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4864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051560"/>
            <a:ext cx="2926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1097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80760" y="135331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rank and profit rank diverge across all 5 markets. A market that leads in gross revenue may lag in margin — making revenue-only reporting a strategic liability.
</a:t>
            </a:r>
            <a:r>
              <a:rPr lang="en-US" sz="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rates range from 13.6% to 15.5% across markets — seemingly narrow, but at $34.3M revenue scale, a 1% margin difference = $343K.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2633472"/>
            <a:ext cx="2926080" cy="1170432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2679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COVERAGE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44768" y="29077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11,506  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0" y="29443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Coordinate Nodes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44768" y="3182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 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0" y="32186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Sub-Nodes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44768" y="3456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3232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Variables Correlation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statistical relationships between key business metrics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475488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1051560"/>
            <a:ext cx="3154680" cy="896112"/>
          </a:xfrm>
          <a:prstGeom prst="rect">
            <a:avLst/>
          </a:prstGeom>
          <a:solidFill>
            <a:srgbClr val="FFF3CD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1097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FINDING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52160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Rate ↔ Profit Ratio: −0.066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but consistently negative across all markets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084832"/>
            <a:ext cx="3154680" cy="8961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1305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CORRELATION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2160" y="23317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↔ Order Profit: +0.72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Price ↔ Sales: +0.65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108960"/>
            <a:ext cx="3154680" cy="896112"/>
          </a:xfrm>
          <a:prstGeom prst="rect">
            <a:avLst/>
          </a:prstGeom>
          <a:solidFill>
            <a:srgbClr val="EAF4FB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52160" y="33558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Higher-priced products naturally drive more revenue and profit. Discount erosion is mild in aggregate but structurally harmful in high-volume segments.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Pipeline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flow: from raw CSV to executive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960120" cy="2377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180,519 records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188720" y="2377440"/>
            <a:ext cx="13716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1188720"/>
            <a:ext cx="960120" cy="237744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2588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588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5,497 outliers removed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86000" y="2377440"/>
            <a:ext cx="13716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1188720"/>
            <a:ext cx="960120" cy="2377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2316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2316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Engineering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2316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KPIs + CVI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83280" y="2377440"/>
            <a:ext cx="13716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1188720"/>
            <a:ext cx="960120" cy="23774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2044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044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Parquet files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80560" y="2377440"/>
            <a:ext cx="13716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188720"/>
            <a:ext cx="960120" cy="2377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1772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Pareto, Segments, Corr.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577840" y="2377440"/>
            <a:ext cx="13716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1188720"/>
            <a:ext cx="960120" cy="2377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1500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71500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1500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11,506 geo-nodes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675120" y="2377440"/>
            <a:ext cx="13716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188720"/>
            <a:ext cx="960120" cy="2377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1228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1228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1228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4-tab UI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772400" y="2377440"/>
            <a:ext cx="13716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1188720"/>
            <a:ext cx="960120" cy="2377440"/>
          </a:xfrm>
          <a:prstGeom prst="rect">
            <a:avLst/>
          </a:prstGeom>
          <a:solidFill>
            <a:srgbClr val="C05A28"/>
          </a:solidFill>
          <a:ln w="12700">
            <a:solidFill>
              <a:srgbClr val="C05A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0956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90956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909560" y="23957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+ PPT + BLUF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28600" y="3749040"/>
            <a:ext cx="86868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822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371600" y="3822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|  Pandas  |  NumPy  |  Plotly  |  Folium  |  Streamlit  |  Apache Parquet  |  Matplotlib  |  Jupyter Notebooks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41148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pipelines run in &lt;2 seconds  |  82.4% memory reduction via Parquet compression  |  Complete reproducibility via Jupyter notebook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44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631659" y="1645920"/>
            <a:ext cx="70551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prioritized actions for immediate and sustained margin recovery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15549" y="2468880"/>
            <a:ext cx="6400799" cy="45719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Strategic Recommendations — Priority Action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financial impact and implementation feasibility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73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KWE Group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8686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24128"/>
            <a:ext cx="502920" cy="667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2412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225296"/>
            <a:ext cx="10058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225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6596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25% Discount Cap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1353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enterprise-wide discount ceiling. Mandate pricing committee approval for exceptions.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1179576"/>
            <a:ext cx="192024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179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~$1.14M recovered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83080"/>
            <a:ext cx="8686800" cy="667512"/>
          </a:xfrm>
          <a:prstGeom prst="rect">
            <a:avLst/>
          </a:prstGeom>
          <a:solidFill>
            <a:srgbClr val="EAF4FB"/>
          </a:solidFill>
          <a:ln w="12700">
            <a:solidFill>
              <a:srgbClr val="DDEC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783080"/>
            <a:ext cx="502920" cy="667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78308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1984248"/>
            <a:ext cx="10058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984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6596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Bleeder Customer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65960" y="2112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review of 243 Bleeder accounts — reprice contracts or initiate managed offboarding.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938528"/>
            <a:ext cx="192024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938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neg. margin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542032"/>
            <a:ext cx="8686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542032"/>
            <a:ext cx="502920" cy="667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542032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2743200"/>
            <a:ext cx="10058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65960" y="2596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Retention Program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65960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account management + SLA guarantees for top-35% CVI customers.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2697480"/>
            <a:ext cx="192024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697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80% of profit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300984"/>
            <a:ext cx="8686800" cy="667512"/>
          </a:xfrm>
          <a:prstGeom prst="rect">
            <a:avLst/>
          </a:prstGeom>
          <a:solidFill>
            <a:srgbClr val="EAF4FB"/>
          </a:solidFill>
          <a:ln w="12700">
            <a:solidFill>
              <a:srgbClr val="DDEC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300984"/>
            <a:ext cx="502920" cy="667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30098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2960" y="3502152"/>
            <a:ext cx="10058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502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965960" y="3355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Loss-Leader SKU Retirement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6596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or reprice bottom-10 loss-making products using Category Margin Score diagnostics.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0" y="3456432"/>
            <a:ext cx="192024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3456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4059936"/>
            <a:ext cx="8686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8600" y="4059936"/>
            <a:ext cx="502920" cy="667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05993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22960" y="4261104"/>
            <a:ext cx="100584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6596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KPIs in Regional Reporting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6596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revenue-only targets with balanced scorecards including profit margin per market.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58000" y="4215384"/>
            <a:ext cx="192024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42153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reform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| Supply Chain Profitability Analysis | May 2026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is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Revenue-Rich,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Margin-Exposed.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4572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15.54% current margin and recoverable potential is fully quantified.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infrastructure, the data, and the analytical framework are in place.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required now is the executive will to 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1965960" cy="777240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22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$34.3M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187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3794760"/>
            <a:ext cx="1965960" cy="777240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822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4187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Margin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3794760"/>
            <a:ext cx="1965960" cy="777240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822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4187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Bleeders to Fix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03720" y="3794760"/>
            <a:ext cx="1965960" cy="777240"/>
          </a:xfrm>
          <a:prstGeom prst="rect">
            <a:avLst/>
          </a:prstGeom>
          <a:solidFill>
            <a:srgbClr val="244E7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822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4187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to Protect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4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 Logistics Analytics Division  |  KWE Group  | 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1134</Words>
  <Application>Microsoft Office PowerPoint</Application>
  <PresentationFormat>On-screen Show (16:9)</PresentationFormat>
  <Paragraphs>252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 Logistics — Profitability Intelligence</dc:title>
  <dc:subject>PptxGenJS Presentation</dc:subject>
  <dc:creator>APL Logistics Analytics Division</dc:creator>
  <cp:lastModifiedBy>Dev Khandelwal</cp:lastModifiedBy>
  <cp:revision>2</cp:revision>
  <dcterms:created xsi:type="dcterms:W3CDTF">2026-05-23T09:06:43Z</dcterms:created>
  <dcterms:modified xsi:type="dcterms:W3CDTF">2026-05-23T09:10:52Z</dcterms:modified>
</cp:coreProperties>
</file>